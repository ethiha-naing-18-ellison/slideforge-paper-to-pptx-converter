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(anonymous) Machine Learning Approaches for Natural Language Processing Authors: John Smith, Jane Doe, Robert Johnson Abstract This paper presents a comprehensive study of machine learning approaches for natural language processing tasks. We evaluate various algorithms including deep learning models, traditional statistical methods, and hybrid approaches. Our experiments demonstrate that transformer-based models achieve superior performance on benchmark datasets. Introduction Natural Language Processing (NLP) has emerged as a critical field in artificial intelligence, with applications ranging from machine translation to sentiment analysis. Recent advances in deep learning have revolutionized the way we approach NLP tasks. Methods We conducted experiments using three main approaches: (1) Traditional statistical methods including TF-IDF and Naive Bayes, (2) Deep learning models including LSTM and GRU networks, and (3) Transformer-based models including BERT and GPT variants. Our dataset consisted of 10,000 text samples across multiple domains. Results Our experimental results show that transformer-based models achieve an average accuracy of 92.3% across all tasks, compared to 78.5% for traditional methods and 85.2% for deep learning approaches. The BERT model specifically showed the best performance on classification tasks. Discussion The superior performance of transformer models can be attributed to their ability to capture contextual relationships in text. However, these models require significant computational resources and training time. We discuss the trade-offs between performance and efficiency. Conclusion Transformer-based models represent the current state-of-the-art in NLP tasks. Future work should focus on developing more efficient variants that maintain high performance while reducing computational requirements. References 1. Vaswani, A., et al. "Attention is all you need." Advances in neural information processing systems 30 (2017). 2. Devlin, J., et al. "BERT: Pre-training of Deep Bidirectional Transformers for Language Understanding." arXiv preprint arXiv:1810.04805 (2018). 3. Brown, T., et al. "Language Models are Few-Shot Learners." Advances in neural information processing systems 33 (2020). Key Contributions - Comprehensive evaluation of ML approaches for NLP - Performance comparison across multiple benchmark datasets - Analysis of computational efficiency trade-offs Limitations - Limited to English language processing - Computational resource requirements for transformer models - Need for large training datasets Future Work - Development of multilingual models - Investigation of model compression techniques - Exploration of few-shot learning approaches</a:t>
            </a:r>
          </a:p>
        </p:txBody>
      </p:sp>
      <p:sp>
        <p:nvSpPr>
          <p:cNvPr id="3" name="TextBox 2"/>
          <p:cNvSpPr txBox="1"/>
          <p:nvPr/>
        </p:nvSpPr>
        <p:spPr>
          <a:xfrm>
            <a:off x="914400" y="1691639"/>
            <a:ext cx="10362895" cy="548640"/>
          </a:xfrm>
          <a:prstGeom prst="rect">
            <a:avLst/>
          </a:prstGeom>
          <a:noFill/>
        </p:spPr>
        <p:txBody>
          <a:bodyPr wrap="square">
            <a:normAutofit/>
          </a:bodyPr>
          <a:lstStyle/>
          <a:p>
            <a:r>
              <a:rPr sz="1800"/>
              <a:t>Research Paper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latin typeface="Times New Roman"/>
              </a:defRPr>
            </a:pPr>
            <a:r>
              <a:t>Agenda</a:t>
            </a:r>
          </a:p>
        </p:txBody>
      </p:sp>
      <p:sp>
        <p:nvSpPr>
          <p:cNvPr id="3" name="Content Placeholder 2"/>
          <p:cNvSpPr>
            <a:spLocks noGrp="1"/>
          </p:cNvSpPr>
          <p:nvPr>
            <p:ph idx="1"/>
          </p:nvPr>
        </p:nvSpPr>
        <p:spPr/>
        <p:txBody>
          <a:bodyPr/>
          <a:lstStyle/>
          <a:p>
            <a:pPr>
              <a:defRPr sz="2000">
                <a:latin typeface="Times New Roman"/>
              </a:defRPr>
            </a:pPr>
            <a:r>
              <a:t>• Abstract</a:t>
            </a:r>
          </a:p>
          <a:p>
            <a:r>
              <a:t>• Methods</a:t>
            </a:r>
          </a:p>
          <a:p>
            <a:r>
              <a:t>• Introduction</a:t>
            </a:r>
          </a:p>
          <a:p>
            <a:r>
              <a:t>• Results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Abstract</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pPr>
            <a:r>
              <a:rPr sz="2000" b="0" i="0" u="none">
                <a:solidFill>
                  <a:srgbClr val="111827"/>
                </a:solidFill>
              </a:rPr>
              <a:t>Abstract This paper presents a comprehensive study of machine learning approaches for natural language processing tasks</a:t>
            </a:r>
          </a:p>
          <a:p>
            <a:pPr algn="l">
              <a:lnSpc>
                <a:spcPct val="115000"/>
              </a:lnSpc>
              <a:spcAft>
                <a:spcPts val="600"/>
              </a:spcAft>
            </a:pPr>
            <a:r>
              <a:rPr sz="2000" b="0" i="0" u="none">
                <a:solidFill>
                  <a:srgbClr val="111827"/>
                </a:solidFill>
              </a:rPr>
              <a:t>We evaluate various algorithms including deep learning models, traditional statistical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Methods</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pPr>
            <a:r>
              <a:rPr sz="2000" b="1" i="0" u="none">
                <a:solidFill>
                  <a:srgbClr val="111827"/>
                </a:solidFill>
              </a:rPr>
              <a:t>2% for deep</a:t>
            </a:r>
            <a:r>
              <a:rPr sz="2000" b="0" i="0" u="none">
                <a:solidFill>
                  <a:srgbClr val="111827"/>
                </a:solidFill>
              </a:rPr>
              <a:t> learning approaches</a:t>
            </a:r>
          </a:p>
          <a:p>
            <a:pPr algn="l">
              <a:lnSpc>
                <a:spcPct val="115000"/>
              </a:lnSpc>
              <a:spcAft>
                <a:spcPts val="600"/>
              </a:spcAft>
            </a:pPr>
            <a:r>
              <a:rPr sz="2000" b="1" i="0" u="none">
                <a:solidFill>
                  <a:srgbClr val="111827"/>
                </a:solidFill>
              </a:rPr>
              <a:t>BERT model specifically</a:t>
            </a:r>
            <a:r>
              <a:rPr sz="2000" b="0" i="0" u="none">
                <a:solidFill>
                  <a:srgbClr val="111827"/>
                </a:solidFill>
              </a:rPr>
              <a:t> showed the best performance on classification tasks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Introduction</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pPr>
            <a:r>
              <a:rPr sz="2000" b="0" i="0" u="none">
                <a:solidFill>
                  <a:srgbClr val="111827"/>
                </a:solidFill>
              </a:rPr>
              <a:t>Recent advances in deep learning have revolutionized the way we approach NLP tasks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Results</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pPr>
            <a:r>
              <a:rPr sz="2000" b="0" i="0" u="none">
                <a:solidFill>
                  <a:srgbClr val="2563EB"/>
                </a:solidFill>
              </a:rPr>
              <a:t>Result</a:t>
            </a:r>
            <a:r>
              <a:rPr sz="2000" b="0" i="0" u="none">
                <a:solidFill>
                  <a:srgbClr val="111827"/>
                </a:solidFill>
              </a:rPr>
              <a:t>s show that transformer-based models achieve an average accuracy of 92</a:t>
            </a:r>
          </a:p>
          <a:p>
            <a:pPr algn="l">
              <a:lnSpc>
                <a:spcPct val="115000"/>
              </a:lnSpc>
              <a:spcAft>
                <a:spcPts val="600"/>
              </a:spcAft>
            </a:pPr>
            <a:r>
              <a:rPr sz="2000" b="0" i="0" u="none">
                <a:solidFill>
                  <a:srgbClr val="111827"/>
                </a:solidFill>
              </a:rPr>
              <a:t>3% across all tasks, compared to 78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Discussion</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pPr>
            <a:r>
              <a:rPr sz="2000" b="0" i="0" u="none">
                <a:solidFill>
                  <a:srgbClr val="111827"/>
                </a:solidFill>
              </a:rPr>
              <a:t>Discussion The superior performance of transformer models can be attributed to their ability to capture contextual relationships in text</a:t>
            </a:r>
          </a:p>
          <a:p>
            <a:pPr algn="l">
              <a:lnSpc>
                <a:spcPct val="115000"/>
              </a:lnSpc>
              <a:spcAft>
                <a:spcPts val="600"/>
              </a:spcAft>
            </a:pPr>
            <a:r>
              <a:rPr sz="2000" b="0" i="0" u="none">
                <a:solidFill>
                  <a:srgbClr val="111827"/>
                </a:solidFill>
              </a:rPr>
              <a:t>However, these models require significant computational resources and training time</a:t>
            </a:r>
          </a:p>
          <a:p>
            <a:pPr algn="l">
              <a:lnSpc>
                <a:spcPct val="115000"/>
              </a:lnSpc>
              <a:spcAft>
                <a:spcPts val="600"/>
              </a:spcAft>
            </a:pPr>
            <a:r>
              <a:rPr sz="2000" b="0" i="0" u="none">
                <a:solidFill>
                  <a:srgbClr val="111827"/>
                </a:solidFill>
              </a:rPr>
              <a:t>We discuss the trade-offs between performance and efficiency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Conclusion</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pPr>
            <a:r>
              <a:rPr sz="2000" b="0" i="0" u="none">
                <a:solidFill>
                  <a:srgbClr val="111827"/>
                </a:solidFill>
              </a:rPr>
              <a:t>Conclusion Transformer-based models represent the current state-of-the-art in NLP tasks</a:t>
            </a:r>
          </a:p>
          <a:p>
            <a:pPr algn="l">
              <a:lnSpc>
                <a:spcPct val="115000"/>
              </a:lnSpc>
              <a:spcAft>
                <a:spcPts val="600"/>
              </a:spcAft>
            </a:pPr>
            <a:r>
              <a:rPr sz="2000" b="0" i="0" u="none">
                <a:solidFill>
                  <a:srgbClr val="2563EB"/>
                </a:solidFill>
              </a:rPr>
              <a:t>Future work</a:t>
            </a:r>
            <a:r>
              <a:rPr sz="2000" b="0" i="0" u="none">
                <a:solidFill>
                  <a:srgbClr val="111827"/>
                </a:solidFill>
              </a:rPr>
              <a:t> should focus on developing more efficient variants that maintain high performance while reducing computational requirements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References</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pPr>
            <a:r>
              <a:rPr sz="2000" b="0" i="0" u="none">
                <a:solidFill>
                  <a:srgbClr val="111827"/>
                </a:solidFill>
              </a:rPr>
              <a:t>"Attention is all you need</a:t>
            </a:r>
          </a:p>
          <a:p>
            <a:pPr algn="l">
              <a:lnSpc>
                <a:spcPct val="115000"/>
              </a:lnSpc>
              <a:spcAft>
                <a:spcPts val="600"/>
              </a:spcAft>
            </a:pPr>
            <a:r>
              <a:rPr sz="2000" b="0" i="0" u="none">
                <a:solidFill>
                  <a:srgbClr val="111827"/>
                </a:solidFill>
              </a:rPr>
              <a:t>" Advances in neural information processing systems 30 (2017)</a:t>
            </a:r>
          </a:p>
          <a:p>
            <a:pPr algn="l">
              <a:lnSpc>
                <a:spcPct val="115000"/>
              </a:lnSpc>
              <a:spcAft>
                <a:spcPts val="600"/>
              </a:spcAft>
            </a:pPr>
            <a:r>
              <a:rPr sz="2000" b="0" i="0" u="none">
                <a:solidFill>
                  <a:srgbClr val="111827"/>
                </a:solidFill>
              </a:rPr>
              <a:t>"BERT: Pre-training of Deep Bidirectional Transformers for Language Understanding</a:t>
            </a:r>
          </a:p>
          <a:p>
            <a:pPr algn="l">
              <a:lnSpc>
                <a:spcPct val="115000"/>
              </a:lnSpc>
              <a:spcAft>
                <a:spcPts val="600"/>
              </a:spcAft>
            </a:pPr>
            <a:r>
              <a:rPr sz="2000" b="0" i="0" u="none">
                <a:solidFill>
                  <a:srgbClr val="111827"/>
                </a:solidFill>
              </a:rPr>
              <a:t>"Language Models are Few-Shot Learners</a:t>
            </a:r>
          </a:p>
          <a:p>
            <a:pPr algn="l">
              <a:lnSpc>
                <a:spcPct val="115000"/>
              </a:lnSpc>
              <a:spcAft>
                <a:spcPts val="600"/>
              </a:spcAft>
            </a:pPr>
            <a:r>
              <a:rPr sz="2000" b="0" i="0" u="none">
                <a:solidFill>
                  <a:srgbClr val="111827"/>
                </a:solidFill>
              </a:rPr>
              <a:t>" Advances in neural information processing systems 33 (2020)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640080"/>
            <a:ext cx="10362895" cy="914400"/>
          </a:xfrm>
          <a:prstGeom prst="rect">
            <a:avLst/>
          </a:prstGeom>
          <a:noFill/>
        </p:spPr>
        <p:txBody>
          <a:bodyPr wrap="square">
            <a:normAutofit/>
          </a:bodyPr>
          <a:lstStyle/>
          <a:p>
            <a:r>
              <a:rPr sz="3200"/>
              <a:t>Future Work</a:t>
            </a:r>
          </a:p>
        </p:txBody>
      </p:sp>
      <p:sp>
        <p:nvSpPr>
          <p:cNvPr id="3" name="TextBox 2"/>
          <p:cNvSpPr txBox="1"/>
          <p:nvPr/>
        </p:nvSpPr>
        <p:spPr>
          <a:xfrm>
            <a:off x="914400" y="1554480"/>
            <a:ext cx="10362895" cy="4663440"/>
          </a:xfrm>
          <a:prstGeom prst="rect">
            <a:avLst/>
          </a:prstGeom>
          <a:noFill/>
        </p:spPr>
        <p:txBody>
          <a:bodyPr wrap="square">
            <a:normAutofit/>
          </a:bodyPr>
          <a:lstStyle/>
          <a:p>
            <a:pPr algn="l">
              <a:lnSpc>
                <a:spcPct val="115000"/>
              </a:lnSpc>
              <a:spcAft>
                <a:spcPts val="600"/>
              </a:spcAft>
            </a:pPr>
            <a:r>
              <a:rPr sz="2000" b="0" i="0" u="none">
                <a:solidFill>
                  <a:srgbClr val="111827"/>
                </a:solidFill>
              </a:rPr>
              <a:t>Should focus on developing more efficient variants that maintain high performance while reducing computational requirements</a:t>
            </a:r>
          </a:p>
          <a:p>
            <a:pPr algn="l">
              <a:lnSpc>
                <a:spcPct val="115000"/>
              </a:lnSpc>
              <a:spcAft>
                <a:spcPts val="600"/>
              </a:spcAft>
            </a:pPr>
            <a:r>
              <a:rPr sz="2000" b="0" i="0" u="none">
                <a:solidFill>
                  <a:srgbClr val="111827"/>
                </a:solidFill>
              </a:rPr>
              <a:t>"Attention is all you need</a:t>
            </a:r>
          </a:p>
          <a:p>
            <a:pPr algn="l">
              <a:lnSpc>
                <a:spcPct val="115000"/>
              </a:lnSpc>
              <a:spcAft>
                <a:spcPts val="600"/>
              </a:spcAft>
            </a:pPr>
            <a:r>
              <a:rPr sz="2000" b="0" i="0" u="none">
                <a:solidFill>
                  <a:srgbClr val="111827"/>
                </a:solidFill>
              </a:rPr>
              <a:t>" Advances in neural information processing systems 30 (2017)</a:t>
            </a:r>
          </a:p>
          <a:p>
            <a:pPr algn="l">
              <a:lnSpc>
                <a:spcPct val="115000"/>
              </a:lnSpc>
              <a:spcAft>
                <a:spcPts val="600"/>
              </a:spcAft>
            </a:pPr>
            <a:r>
              <a:rPr sz="2000" b="0" i="0" u="none">
                <a:solidFill>
                  <a:srgbClr val="111827"/>
                </a:solidFill>
              </a:rPr>
              <a:t>"BERT: Pre-training of Deep Bidirectional Transformers for Language Understanding</a:t>
            </a:r>
          </a:p>
          <a:p>
            <a:pPr algn="l">
              <a:lnSpc>
                <a:spcPct val="115000"/>
              </a:lnSpc>
              <a:spcAft>
                <a:spcPts val="600"/>
              </a:spcAft>
            </a:pPr>
            <a:r>
              <a:rPr sz="2000" b="0" i="0" u="none">
                <a:solidFill>
                  <a:srgbClr val="111827"/>
                </a:solidFill>
              </a:rPr>
              <a:t>"Language Models are Few-Shot Learners</a:t>
            </a:r>
          </a:p>
          <a:p>
            <a:pPr algn="l">
              <a:lnSpc>
                <a:spcPct val="115000"/>
              </a:lnSpc>
              <a:spcAft>
                <a:spcPts val="600"/>
              </a:spcAft>
            </a:pPr>
            <a:r>
              <a:rPr sz="2000" b="0" i="0" u="none">
                <a:solidFill>
                  <a:srgbClr val="111827"/>
                </a:solidFill>
              </a:rPr>
              <a:t>" Advances in neural information processing systems 33 (2020)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638"/>
            <a:ext cx="8229600" cy="1143000"/>
          </a:xfrm>
          <a:prstGeom prst="rect">
            <a:avLst/>
          </a:prstGeom>
          <a:noFill/>
        </p:spPr>
        <p:txBody>
          <a:bodyPr wrap="none">
            <a:spAutoFit/>
          </a:bodyPr>
          <a:lstStyle/>
          <a:p>
            <a:r>
              <a:t>Agenda</a:t>
            </a:r>
          </a:p>
        </p:txBody>
      </p:sp>
      <p:sp>
        <p:nvSpPr>
          <p:cNvPr id="3" name="TextBox 2"/>
          <p:cNvSpPr txBox="1"/>
          <p:nvPr/>
        </p:nvSpPr>
        <p:spPr>
          <a:xfrm>
            <a:off x="914400" y="1645920"/>
            <a:ext cx="10332720" cy="4389120"/>
          </a:xfrm>
          <a:prstGeom prst="rect">
            <a:avLst/>
          </a:prstGeom>
          <a:noFill/>
        </p:spPr>
        <p:txBody>
          <a:bodyPr wrap="none">
            <a:spAutoFit/>
          </a:bodyPr>
          <a:lstStyle/>
          <a:p>
            <a:r>
              <a:t>• Discussion</a:t>
            </a:r>
          </a:p>
          <a:p>
            <a:r>
              <a:t>• Conclusion</a:t>
            </a:r>
          </a:p>
          <a:p>
            <a:r>
              <a:t>• References</a:t>
            </a:r>
          </a:p>
          <a:p>
            <a:r>
              <a:t>• Future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