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600" b="1">
                <a:latin typeface="Times New Roman"/>
              </a:defRPr>
            </a:pPr>
            <a:r>
              <a:t>Comprehensive Analysis of Advanced Machine Learning Techniques</a:t>
            </a:r>
          </a:p>
        </p:txBody>
      </p:sp>
      <p:sp>
        <p:nvSpPr>
          <p:cNvPr id="3" name="Subtitle 2"/>
          <p:cNvSpPr>
            <a:spLocks noGrp="1"/>
          </p:cNvSpPr>
          <p:nvPr>
            <p:ph type="subTitle" idx="1"/>
          </p:nvPr>
        </p:nvSpPr>
        <p:spPr/>
        <p:txBody>
          <a:bodyPr/>
          <a:lstStyle/>
          <a:p>
            <a:pPr>
              <a:defRPr sz="2400" i="1">
                <a:latin typeface="Times New Roman"/>
              </a:defRPr>
            </a:pPr>
            <a:r>
              <a:t>Dr. Jane Smith, Prof. John Doe, Dr. Alice Johnson et al. (4 authors)</a:t>
            </a:r>
          </a:p>
          <a:p>
            <a:r>
              <a:t>International Conference on Artificial Intelligence</a:t>
            </a:r>
          </a:p>
          <a:p>
            <a:r>
              <a:t>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Times New Roman"/>
              </a:defRPr>
            </a:pPr>
            <a:r>
              <a:t>Agenda</a:t>
            </a:r>
          </a:p>
        </p:txBody>
      </p:sp>
      <p:sp>
        <p:nvSpPr>
          <p:cNvPr id="3" name="Content Placeholder 2"/>
          <p:cNvSpPr>
            <a:spLocks noGrp="1"/>
          </p:cNvSpPr>
          <p:nvPr>
            <p:ph idx="1"/>
          </p:nvPr>
        </p:nvSpPr>
        <p:spPr/>
        <p:txBody>
          <a:bodyPr/>
          <a:lstStyle/>
          <a:p>
            <a:pPr>
              <a:defRPr sz="2000">
                <a:latin typeface="Times New Roman"/>
              </a:defRPr>
            </a:pPr>
            <a:r>
              <a:t>• Methods</a:t>
            </a:r>
          </a:p>
          <a:p>
            <a:r>
              <a:t>• Results</a:t>
            </a:r>
          </a:p>
          <a:p>
            <a:r>
              <a:t>• 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Methods</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defRPr sz="1600"/>
            </a:pPr>
            <a:r>
              <a:t>We implemented a comprehensive multi-stage deep learning pipeline that incorporates convolutional neural networks, recurrent neural networks, and transformer architectures to process complex sequential data with high-dimensional features and temporal dependencies.</a:t>
            </a:r>
          </a:p>
          <a:p>
            <a:pPr algn="l">
              <a:lnSpc>
                <a:spcPct val="115000"/>
              </a:lnSpc>
              <a:spcAft>
                <a:spcPts val="600"/>
              </a:spcAft>
              <a:defRPr sz="1600"/>
            </a:pPr>
            <a:r>
              <a:t>Our experimental methodology involved extensive hyperparameter optimization using Bayesian optimization techniques, cross-validation procedures, and ensemble learning approaches to ensure robust and reliable model performance across diverse datasets and evaluation metrics.</a:t>
            </a:r>
          </a:p>
          <a:p>
            <a:pPr algn="l">
              <a:lnSpc>
                <a:spcPct val="115000"/>
              </a:lnSpc>
              <a:spcAft>
                <a:spcPts val="600"/>
              </a:spcAft>
              <a:defRPr sz="1600"/>
            </a:pPr>
            <a:r>
              <a:t>The data preprocessing pipeline included advanced techniques such as feature engineering, dimensionality reduction, data augmentation, normalization, and outlier detection to handle various data quality issues and improve model generalization capabilities.</a:t>
            </a:r>
          </a:p>
          <a:p>
            <a:pPr algn="l">
              <a:lnSpc>
                <a:spcPct val="115000"/>
              </a:lnSpc>
              <a:spcAft>
                <a:spcPts val="600"/>
              </a:spcAft>
              <a:defRPr sz="1600"/>
            </a:pPr>
            <a:r>
              <a:t>We conducted rigorous statistical analysis including significance testing, confidence interval estimation, effect size calculations, and multiple comparison corrections to ensure the validity and reliability of our experimental results and conclusions.</a:t>
            </a:r>
          </a:p>
          <a:p>
            <a:pPr algn="l">
              <a:lnSpc>
                <a:spcPct val="115000"/>
              </a:lnSpc>
              <a:spcAft>
                <a:spcPts val="600"/>
              </a:spcAft>
              <a:defRPr sz="1600"/>
            </a:pPr>
            <a:r>
              <a:t>The implementation utilized state-of-the-art deep learning frameworks and distributed computing infrastructure to handle large-scale datasets and complex model architectures efficiently while maintaining reproducibility and computational efficiency.</a:t>
            </a:r>
          </a:p>
          <a:p>
            <a:pPr algn="l">
              <a:lnSpc>
                <a:spcPct val="115000"/>
              </a:lnSpc>
              <a:spcAft>
                <a:spcPts val="600"/>
              </a:spcAft>
              <a:defRPr sz="1600"/>
            </a:pPr>
            <a:r>
              <a:t>Our evaluation methodology incorporated multiple performance metrics, ablation studies, comparative analysis with baseline methods, and comprehensive error analysis to provide thorough insights into model behavior and limitations.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Results</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defRPr sz="1700"/>
            </a:pPr>
            <a:r>
              <a:t>Our experimental results demonstrate significant improvements in performance across all evaluation metrics, with the proposed method achieving state-of-the-art results on benchmark datasets while maintaining computational efficiency and scalability requirements.</a:t>
            </a:r>
          </a:p>
          <a:p>
            <a:pPr algn="l">
              <a:lnSpc>
                <a:spcPct val="115000"/>
              </a:lnSpc>
              <a:spcAft>
                <a:spcPts val="600"/>
              </a:spcAft>
              <a:defRPr sz="1700"/>
            </a:pPr>
            <a:r>
              <a:t>The ablation studies reveal the importance of each component in our proposed architecture, with detailed analysis showing how different design choices contribute to overall model performance and robustness across various experimental conditions and dataset characteristics.</a:t>
            </a:r>
          </a:p>
          <a:p>
            <a:pPr algn="l">
              <a:lnSpc>
                <a:spcPct val="115000"/>
              </a:lnSpc>
              <a:spcAft>
                <a:spcPts val="600"/>
              </a:spcAft>
              <a:defRPr sz="1700"/>
            </a:pPr>
            <a:r>
              <a:t>Comparative analysis with existing baseline methods shows consistent superiority of our approach, with statistical significance tests confirming the reliability of performance improvements and the effectiveness of our proposed techniques and methodologies.</a:t>
            </a:r>
          </a:p>
          <a:p>
            <a:pPr algn="l">
              <a:lnSpc>
                <a:spcPct val="115000"/>
              </a:lnSpc>
              <a:spcAft>
                <a:spcPts val="600"/>
              </a:spcAft>
              <a:defRPr sz="1700"/>
            </a:pPr>
            <a:r>
              <a:t>Error analysis provides valuable insights into model limitations and failure cases, identifying specific scenarios where performance degrades and suggesting potential areas for future improvement and research directions.</a:t>
            </a:r>
          </a:p>
          <a:p>
            <a:pPr algn="l">
              <a:lnSpc>
                <a:spcPct val="115000"/>
              </a:lnSpc>
              <a:spcAft>
                <a:spcPts val="600"/>
              </a:spcAft>
              <a:defRPr sz="1700"/>
            </a:pPr>
            <a:r>
              <a:t>The scalability experiments demonstrate the ability of our method to handle large-scale datasets efficiently, with linear scaling behavior and practical computational requirements that make it suitable for real-world applications and deployment scenarios.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Discussion</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defRPr sz="1700"/>
            </a:pPr>
            <a:r>
              <a:t>The superior performance of our proposed method can be attributed to several key factors including the innovative architecture design, effective feature learning mechanisms, robust optimization strategies, and comprehensive evaluation procedures that ensure reliable and reproducible results.</a:t>
            </a:r>
          </a:p>
          <a:p>
            <a:pPr algn="l">
              <a:lnSpc>
                <a:spcPct val="115000"/>
              </a:lnSpc>
              <a:spcAft>
                <a:spcPts val="600"/>
              </a:spcAft>
              <a:defRPr sz="1700"/>
            </a:pPr>
            <a:r>
              <a:t>Our findings have important implications for the field, suggesting new research directions and practical applications while highlighting the potential for further improvements and extensions to address current limitations and challenges in the domain.</a:t>
            </a:r>
          </a:p>
          <a:p>
            <a:pPr algn="l">
              <a:lnSpc>
                <a:spcPct val="115000"/>
              </a:lnSpc>
              <a:spcAft>
                <a:spcPts val="600"/>
              </a:spcAft>
              <a:defRPr sz="1700"/>
            </a:pPr>
            <a:r>
              <a:t>The limitations of our study include computational resource requirements, dataset-specific performance variations, and the need for further validation across diverse domains and application scenarios to ensure generalizability and practical utility.</a:t>
            </a:r>
          </a:p>
          <a:p>
            <a:pPr algn="l">
              <a:lnSpc>
                <a:spcPct val="115000"/>
              </a:lnSpc>
              <a:spcAft>
                <a:spcPts val="600"/>
              </a:spcAft>
              <a:defRPr sz="1700"/>
            </a:pPr>
            <a:r>
              <a:t>Future work should focus on addressing identified limitations, exploring alternative architectures, investigating transfer learning capabilities, and developing more efficient training procedures to improve scalability and applicability to real-world problems.</a:t>
            </a:r>
          </a:p>
          <a:p>
            <a:pPr algn="l">
              <a:lnSpc>
                <a:spcPct val="115000"/>
              </a:lnSpc>
              <a:spcAft>
                <a:spcPts val="600"/>
              </a:spcAft>
              <a:defRPr sz="1700"/>
            </a:pPr>
            <a:r>
              <a:t>The practical implications of our research extend beyond academic interest, with potential applications in various industries and domains where accurate and efficient machine learning solutions are required for complex decision-making processes and automated 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Times New Roman"/>
              </a:defRPr>
            </a:pPr>
            <a:r>
              <a:t>References</a:t>
            </a:r>
          </a:p>
        </p:txBody>
      </p:sp>
      <p:sp>
        <p:nvSpPr>
          <p:cNvPr id="3" name="Content Placeholder 2"/>
          <p:cNvSpPr>
            <a:spLocks noGrp="1"/>
          </p:cNvSpPr>
          <p:nvPr>
            <p:ph idx="1"/>
          </p:nvPr>
        </p:nvSpPr>
        <p:spPr/>
        <p:txBody>
          <a:bodyPr/>
          <a:lstStyle/>
          <a:p>
            <a:pPr>
              <a:defRPr sz="2000">
                <a:latin typeface="Times New Roman"/>
              </a:defRPr>
            </a:pPr>
            <a:r>
              <a:t>DOI: 10.1234/example.doi</a:t>
            </a:r>
          </a:p>
          <a:p>
            <a:r>
              <a:t>URL: https://example.com/paper</a:t>
            </a:r>
          </a:p>
          <a:p>
            <a:r>
              <a:t>Published in: International Conference on Artificial Intelligence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