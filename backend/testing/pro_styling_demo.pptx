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Advanced Machine Learning Techniques with Rich Text Formatting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latin typeface="Times New Roman"/>
              </a:defRPr>
            </a:pPr>
            <a:r>
              <a:t>Dr. Jane Smith, Prof. John Doe, Dr. Alice Johnson</a:t>
            </a:r>
          </a:p>
          <a:p>
            <a:r>
              <a:t>International Conference on Artificial Intelligence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Methods</a:t>
            </a:r>
          </a:p>
          <a:p>
            <a:r>
              <a:t>• Results</a:t>
            </a:r>
          </a:p>
          <a:p>
            <a:r>
              <a:t>• Discussion</a:t>
            </a:r>
          </a:p>
          <a:p>
            <a: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1</a:t>
            </a:r>
            <a:r>
              <a:rPr sz="2000" b="1" i="0" u="none">
                <a:solidFill>
                  <a:srgbClr val="111827"/>
                </a:solidFill>
              </a:rPr>
              <a:t>: Data</a:t>
            </a:r>
            <a:r>
              <a:rPr sz="2000" b="0" i="0" u="none">
                <a:solidFill>
                  <a:srgbClr val="111827"/>
                </a:solidFill>
              </a:rPr>
              <a:t> pre</a:t>
            </a:r>
            <a:r>
              <a:rPr sz="2000" b="0" i="0" u="none">
                <a:solidFill>
                  <a:srgbClr val="2563EB"/>
                </a:solidFill>
              </a:rPr>
              <a:t>process</a:t>
            </a:r>
            <a:r>
              <a:rPr sz="2000" b="0" i="0" u="none">
                <a:solidFill>
                  <a:srgbClr val="111827"/>
                </a:solidFill>
              </a:rPr>
              <a:t>ing involves </a:t>
            </a:r>
            <a:r>
              <a:rPr sz="2000" b="0" i="1" u="none">
                <a:solidFill>
                  <a:srgbClr val="111827"/>
                </a:solidFill>
              </a:rPr>
              <a:t>cleaning</a:t>
            </a:r>
            <a:r>
              <a:rPr sz="2000" b="0" i="0" u="none">
                <a:solidFill>
                  <a:srgbClr val="111827"/>
                </a:solidFill>
              </a:rPr>
              <a:t> and </a:t>
            </a:r>
            <a:r>
              <a:rPr sz="2000" b="0" i="0" u="sng">
                <a:solidFill>
                  <a:srgbClr val="111827"/>
                </a:solidFill>
              </a:rPr>
              <a:t>normalization</a:t>
            </a:r>
            <a:r>
              <a:rPr sz="2000" b="0" i="0" u="none">
                <a:solidFill>
                  <a:srgbClr val="111827"/>
                </a:solidFill>
              </a:rPr>
              <a:t> of raw input data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2</a:t>
            </a:r>
            <a:r>
              <a:rPr sz="2000" b="1" i="0" u="none">
                <a:solidFill>
                  <a:srgbClr val="111827"/>
                </a:solidFill>
              </a:rPr>
              <a:t>: Feature</a:t>
            </a:r>
            <a:r>
              <a:rPr sz="2000" b="0" i="0" u="none">
                <a:solidFill>
                  <a:srgbClr val="111827"/>
                </a:solidFill>
              </a:rPr>
              <a:t> extraction using </a:t>
            </a:r>
            <a:r>
              <a:rPr sz="2000" b="0" i="1" u="none">
                <a:solidFill>
                  <a:srgbClr val="111827"/>
                </a:solidFill>
              </a:rPr>
              <a:t>advanced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neural networks</a:t>
            </a:r>
            <a:r>
              <a:rPr sz="2000" b="0" i="0" u="none">
                <a:solidFill>
                  <a:srgbClr val="111827"/>
                </a:solidFill>
              </a:rPr>
              <a:t> for pattern recognition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3</a:t>
            </a:r>
            <a:r>
              <a:rPr sz="2000" b="1" i="0" u="none">
                <a:solidFill>
                  <a:srgbClr val="111827"/>
                </a:solidFill>
              </a:rPr>
              <a:t>: Model</a:t>
            </a:r>
            <a:r>
              <a:rPr sz="2000" b="0" i="0" u="none">
                <a:solidFill>
                  <a:srgbClr val="111827"/>
                </a:solidFill>
              </a:rPr>
              <a:t> training with </a:t>
            </a:r>
            <a:r>
              <a:rPr sz="2000" b="0" i="1" u="none">
                <a:solidFill>
                  <a:srgbClr val="111827"/>
                </a:solidFill>
              </a:rPr>
              <a:t>optimized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hyperparameters</a:t>
            </a:r>
            <a:r>
              <a:rPr sz="2000" b="0" i="0" u="none">
                <a:solidFill>
                  <a:srgbClr val="111827"/>
                </a:solidFill>
              </a:rPr>
              <a:t> and validation </a:t>
            </a:r>
            <a:r>
              <a:rPr sz="2000" b="0" i="0" u="none">
                <a:solidFill>
                  <a:srgbClr val="2563EB"/>
                </a:solidFill>
              </a:rPr>
              <a:t>technique</a:t>
            </a:r>
            <a:r>
              <a:rPr sz="2000" b="0" i="0" u="none">
                <a:solidFill>
                  <a:srgbClr val="111827"/>
                </a:solidFill>
              </a:rPr>
              <a:t>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4</a:t>
            </a:r>
            <a:r>
              <a:rPr sz="2000" b="1" i="0" u="none">
                <a:solidFill>
                  <a:srgbClr val="111827"/>
                </a:solidFill>
              </a:rPr>
              <a:t>: Evaluation</a:t>
            </a:r>
            <a:r>
              <a:rPr sz="2000" b="0" i="0" u="none">
                <a:solidFill>
                  <a:srgbClr val="111827"/>
                </a:solidFill>
              </a:rPr>
              <a:t> using </a:t>
            </a:r>
            <a:r>
              <a:rPr sz="2000" b="0" i="1" u="none">
                <a:solidFill>
                  <a:srgbClr val="111827"/>
                </a:solidFill>
              </a:rPr>
              <a:t>comprehensive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metrics</a:t>
            </a:r>
            <a:r>
              <a:rPr sz="2000" b="0" i="0" u="none">
                <a:solidFill>
                  <a:srgbClr val="111827"/>
                </a:solidFill>
              </a:rPr>
              <a:t> and cross-validation procedures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Key contribution</a:t>
            </a:r>
            <a:r>
              <a:rPr sz="2000" b="0" i="1" u="none">
                <a:solidFill>
                  <a:srgbClr val="111827"/>
                </a:solidFill>
              </a:rPr>
              <a:t>*: Achieved </a:t>
            </a:r>
            <a:r>
              <a:rPr sz="2000" b="0" i="0" u="none">
                <a:solidFill>
                  <a:srgbClr val="111827"/>
                </a:solidFill>
              </a:rPr>
              <a:t>significant* </a:t>
            </a:r>
            <a:r>
              <a:rPr sz="2000" b="0" i="0" u="sng">
                <a:solidFill>
                  <a:srgbClr val="111827"/>
                </a:solidFill>
              </a:rPr>
              <a:t>performance improvement</a:t>
            </a:r>
            <a:r>
              <a:rPr sz="2000" b="0" i="0" u="none">
                <a:solidFill>
                  <a:srgbClr val="111827"/>
                </a:solidFill>
              </a:rPr>
              <a:t> of 25% over baseline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1" u="none">
                <a:solidFill>
                  <a:srgbClr val="111827"/>
                </a:solidFill>
              </a:rPr>
              <a:t>*: Model accuracy reached </a:t>
            </a:r>
            <a:r>
              <a:rPr sz="2000" b="0" i="0" u="none">
                <a:solidFill>
                  <a:srgbClr val="111827"/>
                </a:solidFill>
              </a:rPr>
              <a:t>outstanding* </a:t>
            </a:r>
            <a:r>
              <a:rPr sz="2000" b="0" i="0" u="sng">
                <a:solidFill>
                  <a:srgbClr val="111827"/>
                </a:solidFill>
              </a:rPr>
              <a:t>95.7%</a:t>
            </a:r>
            <a:r>
              <a:rPr sz="2000" b="0" i="0" u="none">
                <a:solidFill>
                  <a:srgbClr val="111827"/>
                </a:solidFill>
              </a:rPr>
              <a:t> on test dataset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Impact</a:t>
            </a:r>
            <a:r>
              <a:rPr sz="2000" b="0" i="1" u="none">
                <a:solidFill>
                  <a:srgbClr val="111827"/>
                </a:solidFill>
              </a:rPr>
              <a:t>*: </a:t>
            </a:r>
            <a:r>
              <a:rPr sz="2000" b="0" i="0" u="none">
                <a:solidFill>
                  <a:srgbClr val="111827"/>
                </a:solidFill>
              </a:rPr>
              <a:t>Reduced* </a:t>
            </a:r>
            <a:r>
              <a:rPr sz="2000" b="0" i="0" u="sng">
                <a:solidFill>
                  <a:srgbClr val="111827"/>
                </a:solidFill>
              </a:rPr>
              <a:t>computation time</a:t>
            </a:r>
            <a:r>
              <a:rPr sz="2000" b="0" i="0" u="none">
                <a:solidFill>
                  <a:srgbClr val="111827"/>
                </a:solidFill>
              </a:rPr>
              <a:t> by 40% while maintaining quality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Limitation</a:t>
            </a:r>
            <a:r>
              <a:rPr sz="2000" b="0" i="1" u="none">
                <a:solidFill>
                  <a:srgbClr val="111827"/>
                </a:solidFill>
              </a:rPr>
              <a:t>*: </a:t>
            </a:r>
            <a:r>
              <a:rPr sz="2000" b="0" i="0" u="none">
                <a:solidFill>
                  <a:srgbClr val="111827"/>
                </a:solidFill>
              </a:rPr>
              <a:t>Current* </a:t>
            </a:r>
            <a:r>
              <a:rPr sz="2000" b="0" i="0" u="sng">
                <a:solidFill>
                  <a:srgbClr val="111827"/>
                </a:solidFill>
              </a:rPr>
              <a:t>approach</a:t>
            </a:r>
            <a:r>
              <a:rPr sz="2000" b="0" i="0" u="none">
                <a:solidFill>
                  <a:srgbClr val="111827"/>
                </a:solidFill>
              </a:rPr>
              <a:t> requires substantial computational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The </a:t>
            </a:r>
            <a:r>
              <a:rPr sz="2000" b="0" i="1" u="none">
                <a:solidFill>
                  <a:srgbClr val="111827"/>
                </a:solidFill>
              </a:rPr>
              <a:t>superior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performance</a:t>
            </a:r>
            <a:r>
              <a:rPr sz="2000" b="0" i="0" u="none">
                <a:solidFill>
                  <a:srgbClr val="111827"/>
                </a:solidFill>
              </a:rPr>
              <a:t> can be attributed to </a:t>
            </a:r>
            <a:r>
              <a:rPr sz="2000" b="1" i="0" u="none">
                <a:solidFill>
                  <a:srgbClr val="111827"/>
                </a:solidFill>
              </a:rPr>
              <a:t>innovative</a:t>
            </a:r>
            <a:r>
              <a:rPr sz="2000" b="0" i="0" u="none">
                <a:solidFill>
                  <a:srgbClr val="111827"/>
                </a:solidFill>
              </a:rPr>
              <a:t> architecture design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Future work</a:t>
            </a:r>
            <a:r>
              <a:rPr sz="2000" b="1" i="0" u="none">
                <a:solidFill>
                  <a:srgbClr val="111827"/>
                </a:solidFill>
              </a:rPr>
              <a:t> should focus on *scaling* __efficiency__ and </a:t>
            </a:r>
            <a:r>
              <a:rPr sz="2000" b="0" i="0" u="none">
                <a:solidFill>
                  <a:srgbClr val="111827"/>
                </a:solidFill>
              </a:rPr>
              <a:t>optimization** techniques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Key contribution</a:t>
            </a:r>
            <a:r>
              <a:rPr sz="2000" b="1" i="0" u="none">
                <a:solidFill>
                  <a:srgbClr val="111827"/>
                </a:solidFill>
              </a:rPr>
              <a:t> of this research lies in *novel* __methodology__ and </a:t>
            </a:r>
            <a:r>
              <a:rPr sz="2000" b="0" i="0" u="none">
                <a:solidFill>
                  <a:srgbClr val="111827"/>
                </a:solidFill>
              </a:rPr>
              <a:t>practical** applications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Limitation</a:t>
            </a:r>
            <a:r>
              <a:rPr sz="2000" b="1" i="0" u="none">
                <a:solidFill>
                  <a:srgbClr val="111827"/>
                </a:solidFill>
              </a:rPr>
              <a:t> includes *resource* __requirements__ and </a:t>
            </a:r>
            <a:r>
              <a:rPr sz="2000" b="0" i="0" u="none">
                <a:solidFill>
                  <a:srgbClr val="111827"/>
                </a:solidFill>
              </a:rPr>
              <a:t>complexity** of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Summary</a:t>
            </a:r>
            <a:r>
              <a:rPr sz="2000" b="0" i="0" u="none">
                <a:solidFill>
                  <a:srgbClr val="111827"/>
                </a:solidFill>
              </a:rPr>
              <a:t>: </a:t>
            </a:r>
            <a:r>
              <a:rPr sz="2000" b="0" i="1" u="none">
                <a:solidFill>
                  <a:srgbClr val="111827"/>
                </a:solidFill>
              </a:rPr>
              <a:t>Comprehensive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analysis</a:t>
            </a:r>
            <a:r>
              <a:rPr sz="2000" b="0" i="0" u="none">
                <a:solidFill>
                  <a:srgbClr val="111827"/>
                </a:solidFill>
              </a:rPr>
              <a:t> demonstrates </a:t>
            </a:r>
            <a:r>
              <a:rPr sz="2000" b="1" i="0" u="none">
                <a:solidFill>
                  <a:srgbClr val="111827"/>
                </a:solidFill>
              </a:rPr>
              <a:t>significant</a:t>
            </a:r>
            <a:r>
              <a:rPr sz="2000" b="0" i="0" u="none">
                <a:solidFill>
                  <a:srgbClr val="111827"/>
                </a:solidFill>
              </a:rPr>
              <a:t> improvements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Impact</a:t>
            </a:r>
            <a:r>
              <a:rPr sz="2000" b="1" i="0" u="none">
                <a:solidFill>
                  <a:srgbClr val="111827"/>
                </a:solidFill>
              </a:rPr>
              <a:t>: *Practical* __applications__ show </a:t>
            </a:r>
            <a:r>
              <a:rPr sz="2000" b="0" i="0" u="none">
                <a:solidFill>
                  <a:srgbClr val="111827"/>
                </a:solidFill>
              </a:rPr>
              <a:t>promising** 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 for real-world deployment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Future work</a:t>
            </a:r>
            <a:r>
              <a:rPr sz="2000" b="1" i="0" u="none">
                <a:solidFill>
                  <a:srgbClr val="111827"/>
                </a:solidFill>
              </a:rPr>
              <a:t>: *Further* __research__ needed for </a:t>
            </a:r>
            <a:r>
              <a:rPr sz="2000" b="0" i="0" u="none">
                <a:solidFill>
                  <a:srgbClr val="111827"/>
                </a:solidFill>
              </a:rPr>
              <a:t>scalability</a:t>
            </a:r>
            <a:r>
              <a:rPr sz="2000" b="1" i="0" u="none">
                <a:solidFill>
                  <a:srgbClr val="111827"/>
                </a:solidFill>
              </a:rPr>
              <a:t> and </a:t>
            </a:r>
            <a:r>
              <a:rPr sz="2000" b="0" i="0" u="none">
                <a:solidFill>
                  <a:srgbClr val="111827"/>
                </a:solidFill>
              </a:rPr>
              <a:t>efficiency**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DOI: 10.1234/example.doi</a:t>
            </a:r>
          </a:p>
          <a:p>
            <a:r>
              <a:t>URL: https://example.com/paper</a:t>
            </a:r>
          </a:p>
          <a:p>
            <a:r>
              <a:t>Published in: International Conference on Artificial Intelligence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