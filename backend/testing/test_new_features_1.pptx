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How to Use Device X: Complete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User Manual  •  Dr. Jane Smith, Prof.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0" i="1" u="none">
                <a:solidFill>
                  <a:srgbClr val="111827"/>
                </a:solidFill>
              </a:rPr>
              <a:t>*: This research introduces </a:t>
            </a:r>
            <a:r>
              <a:rPr sz="2000" b="0" i="0" u="none">
                <a:solidFill>
                  <a:srgbClr val="111827"/>
                </a:solidFill>
              </a:rPr>
              <a:t>novel* </a:t>
            </a:r>
            <a:r>
              <a:rPr sz="2000" b="0" i="0" u="sng">
                <a:solidFill>
                  <a:srgbClr val="111827"/>
                </a:solidFill>
              </a:rPr>
              <a:t>techniques</a:t>
            </a:r>
            <a:r>
              <a:rPr sz="2000" b="0" i="0" u="none">
                <a:solidFill>
                  <a:srgbClr val="111827"/>
                </a:solidFill>
              </a:rPr>
              <a:t> for natural language processing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1" u="none">
                <a:solidFill>
                  <a:srgbClr val="111827"/>
                </a:solidFill>
              </a:rPr>
              <a:t>*: Achieved </a:t>
            </a:r>
            <a:r>
              <a:rPr sz="2000" b="0" i="0" u="none">
                <a:solidFill>
                  <a:srgbClr val="111827"/>
                </a:solidFill>
              </a:rPr>
              <a:t>significant* </a:t>
            </a:r>
            <a:r>
              <a:rPr sz="2000" b="0" i="0" u="sng">
                <a:solidFill>
                  <a:srgbClr val="111827"/>
                </a:solidFill>
              </a:rPr>
              <a:t>performance improvement</a:t>
            </a:r>
            <a:r>
              <a:rPr sz="2000" b="0" i="0" u="none">
                <a:solidFill>
                  <a:srgbClr val="111827"/>
                </a:solidFill>
              </a:rPr>
              <a:t> of 25% over baseline methods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Impact</a:t>
            </a:r>
            <a:r>
              <a:rPr sz="2000" b="0" i="1" u="none">
                <a:solidFill>
                  <a:srgbClr val="111827"/>
                </a:solidFill>
              </a:rPr>
              <a:t>*: </a:t>
            </a:r>
            <a:r>
              <a:rPr sz="2000" b="0" i="0" u="none">
                <a:solidFill>
                  <a:srgbClr val="111827"/>
                </a:solidFill>
              </a:rPr>
              <a:t>Reduced* </a:t>
            </a:r>
            <a:r>
              <a:rPr sz="2000" b="0" i="0" u="sng">
                <a:solidFill>
                  <a:srgbClr val="111827"/>
                </a:solidFill>
              </a:rPr>
              <a:t>computation time</a:t>
            </a:r>
            <a:r>
              <a:rPr sz="2000" b="0" i="0" u="none">
                <a:solidFill>
                  <a:srgbClr val="111827"/>
                </a:solidFill>
              </a:rPr>
              <a:t> by 40% while maintaining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Background</a:t>
            </a:r>
            <a:r>
              <a:rPr sz="2000" b="0" i="0" u="none">
                <a:solidFill>
                  <a:srgbClr val="111827"/>
                </a:solidFill>
              </a:rPr>
              <a:t>: Natural language processing has evolved rapidly in recent years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Problem</a:t>
            </a:r>
            <a:r>
              <a:rPr sz="2000" b="0" i="0" u="none">
                <a:solidFill>
                  <a:srgbClr val="111827"/>
                </a:solidFill>
              </a:rPr>
              <a:t>: Current approaches lack efficiency and scalability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Solution</a:t>
            </a:r>
            <a:r>
              <a:rPr sz="2000" b="0" i="0" u="none">
                <a:solidFill>
                  <a:srgbClr val="111827"/>
                </a:solidFill>
              </a:rPr>
              <a:t>: We propose a new framework that addresses these </a:t>
            </a:r>
            <a:r>
              <a:rPr sz="2000" b="0" i="0" u="none">
                <a:solidFill>
                  <a:srgbClr val="2563EB"/>
                </a:solidFill>
              </a:rPr>
              <a:t>limitation</a:t>
            </a:r>
            <a:r>
              <a:rPr sz="2000" b="0" i="0" u="none">
                <a:solidFill>
                  <a:srgbClr val="111827"/>
                </a:solidFill>
              </a:rPr>
              <a:t>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Approach</a:t>
            </a:r>
            <a:r>
              <a:rPr sz="2000" b="0" i="0" u="none">
                <a:solidFill>
                  <a:srgbClr val="111827"/>
                </a:solidFill>
              </a:rPr>
              <a:t>: Our method combines multiple techniques for optimal 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1</a:t>
            </a:r>
            <a:r>
              <a:rPr sz="2000" b="1" i="0" u="none">
                <a:solidFill>
                  <a:srgbClr val="111827"/>
                </a:solidFill>
              </a:rPr>
              <a:t>: Data</a:t>
            </a:r>
            <a:r>
              <a:rPr sz="2000" b="0" i="0" u="none">
                <a:solidFill>
                  <a:srgbClr val="111827"/>
                </a:solidFill>
              </a:rPr>
              <a:t> pre</a:t>
            </a:r>
            <a:r>
              <a:rPr sz="2000" b="0" i="0" u="none">
                <a:solidFill>
                  <a:srgbClr val="2563EB"/>
                </a:solidFill>
              </a:rPr>
              <a:t>process</a:t>
            </a:r>
            <a:r>
              <a:rPr sz="2000" b="0" i="0" u="none">
                <a:solidFill>
                  <a:srgbClr val="111827"/>
                </a:solidFill>
              </a:rPr>
              <a:t>ing involves </a:t>
            </a:r>
            <a:r>
              <a:rPr sz="2000" b="0" i="1" u="none">
                <a:solidFill>
                  <a:srgbClr val="111827"/>
                </a:solidFill>
              </a:rPr>
              <a:t>cleaning</a:t>
            </a:r>
            <a:r>
              <a:rPr sz="2000" b="0" i="0" u="none">
                <a:solidFill>
                  <a:srgbClr val="111827"/>
                </a:solidFill>
              </a:rPr>
              <a:t> and </a:t>
            </a:r>
            <a:r>
              <a:rPr sz="2000" b="0" i="0" u="sng">
                <a:solidFill>
                  <a:srgbClr val="111827"/>
                </a:solidFill>
              </a:rPr>
              <a:t>normalization</a:t>
            </a:r>
            <a:r>
              <a:rPr sz="2000" b="0" i="0" u="none">
                <a:solidFill>
                  <a:srgbClr val="111827"/>
                </a:solidFill>
              </a:rPr>
              <a:t> of raw input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2</a:t>
            </a:r>
            <a:r>
              <a:rPr sz="2000" b="1" i="0" u="none">
                <a:solidFill>
                  <a:srgbClr val="111827"/>
                </a:solidFill>
              </a:rPr>
              <a:t>: Feature</a:t>
            </a:r>
            <a:r>
              <a:rPr sz="2000" b="0" i="0" u="none">
                <a:solidFill>
                  <a:srgbClr val="111827"/>
                </a:solidFill>
              </a:rPr>
              <a:t> extraction using </a:t>
            </a:r>
            <a:r>
              <a:rPr sz="2000" b="0" i="1" u="none">
                <a:solidFill>
                  <a:srgbClr val="111827"/>
                </a:solidFill>
              </a:rPr>
              <a:t>advanced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neural networks</a:t>
            </a:r>
            <a:r>
              <a:rPr sz="2000" b="0" i="0" u="none">
                <a:solidFill>
                  <a:srgbClr val="111827"/>
                </a:solidFill>
              </a:rPr>
              <a:t> for pattern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3</a:t>
            </a:r>
            <a:r>
              <a:rPr sz="2000" b="1" i="0" u="none">
                <a:solidFill>
                  <a:srgbClr val="111827"/>
                </a:solidFill>
              </a:rPr>
              <a:t>: Model</a:t>
            </a:r>
            <a:r>
              <a:rPr sz="2000" b="0" i="0" u="none">
                <a:solidFill>
                  <a:srgbClr val="111827"/>
                </a:solidFill>
              </a:rPr>
              <a:t> training with </a:t>
            </a:r>
            <a:r>
              <a:rPr sz="2000" b="0" i="1" u="none">
                <a:solidFill>
                  <a:srgbClr val="111827"/>
                </a:solidFill>
              </a:rPr>
              <a:t>optimized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hyperparameters</a:t>
            </a:r>
            <a:r>
              <a:rPr sz="2000" b="0" i="0" u="none">
                <a:solidFill>
                  <a:srgbClr val="111827"/>
                </a:solidFill>
              </a:rPr>
              <a:t> and validation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4</a:t>
            </a:r>
            <a:r>
              <a:rPr sz="2000" b="1" i="0" u="none">
                <a:solidFill>
                  <a:srgbClr val="111827"/>
                </a:solidFill>
              </a:rPr>
              <a:t>: Evaluation</a:t>
            </a:r>
            <a:r>
              <a:rPr sz="2000" b="0" i="0" u="none">
                <a:solidFill>
                  <a:srgbClr val="111827"/>
                </a:solidFill>
              </a:rPr>
              <a:t> using </a:t>
            </a:r>
            <a:r>
              <a:rPr sz="2000" b="0" i="1" u="none">
                <a:solidFill>
                  <a:srgbClr val="111827"/>
                </a:solidFill>
              </a:rPr>
              <a:t>comprehensive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metrics</a:t>
            </a:r>
            <a:r>
              <a:rPr sz="2000" b="0" i="0" u="none">
                <a:solidFill>
                  <a:srgbClr val="111827"/>
                </a:solidFill>
              </a:rPr>
              <a:t> and cross-validation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Performance</a:t>
            </a:r>
            <a:r>
              <a:rPr sz="2000" b="0" i="0" u="none">
                <a:solidFill>
                  <a:srgbClr val="111827"/>
                </a:solidFill>
              </a:rPr>
              <a:t>: Model achieved 95.7% accuracy on test dataset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Efficiency</a:t>
            </a:r>
            <a:r>
              <a:rPr sz="2000" b="0" i="0" u="none">
                <a:solidFill>
                  <a:srgbClr val="111827"/>
                </a:solidFill>
              </a:rPr>
              <a:t>: Processing time reduced by 40% compared to baseline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Scalability</a:t>
            </a:r>
            <a:r>
              <a:rPr sz="2000" b="0" i="0" u="none">
                <a:solidFill>
                  <a:srgbClr val="111827"/>
                </a:solidFill>
              </a:rPr>
              <a:t>: Successfully tested on datasets with 1M+ samples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Robustness</a:t>
            </a:r>
            <a:r>
              <a:rPr sz="2000" b="0" i="0" u="none">
                <a:solidFill>
                  <a:srgbClr val="111827"/>
                </a:solidFill>
              </a:rPr>
              <a:t>: Consistent performance across different domains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0" i="1" u="none">
                <a:solidFill>
                  <a:srgbClr val="111827"/>
                </a:solidFill>
              </a:rPr>
              <a:t>*: This research introduces </a:t>
            </a:r>
            <a:r>
              <a:rPr sz="2000" b="0" i="0" u="none">
                <a:solidFill>
                  <a:srgbClr val="111827"/>
                </a:solidFill>
              </a:rPr>
              <a:t>novel* </a:t>
            </a:r>
            <a:r>
              <a:rPr sz="2000" b="0" i="0" u="sng">
                <a:solidFill>
                  <a:srgbClr val="111827"/>
                </a:solidFill>
              </a:rPr>
              <a:t>techniques</a:t>
            </a:r>
            <a:r>
              <a:rPr sz="2000" b="0" i="0" u="none">
                <a:solidFill>
                  <a:srgbClr val="111827"/>
                </a:solidFill>
              </a:rPr>
              <a:t> for natural language processing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1" u="none">
                <a:solidFill>
                  <a:srgbClr val="111827"/>
                </a:solidFill>
              </a:rPr>
              <a:t>*: Achieved </a:t>
            </a:r>
            <a:r>
              <a:rPr sz="2000" b="0" i="0" u="none">
                <a:solidFill>
                  <a:srgbClr val="111827"/>
                </a:solidFill>
              </a:rPr>
              <a:t>significant* </a:t>
            </a:r>
            <a:r>
              <a:rPr sz="2000" b="0" i="0" u="sng">
                <a:solidFill>
                  <a:srgbClr val="111827"/>
                </a:solidFill>
              </a:rPr>
              <a:t>performance improvement</a:t>
            </a:r>
            <a:r>
              <a:rPr sz="2000" b="0" i="0" u="none">
                <a:solidFill>
                  <a:srgbClr val="111827"/>
                </a:solidFill>
              </a:rPr>
              <a:t> of 25% over baseline methods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Background</a:t>
            </a:r>
            <a:r>
              <a:rPr sz="2000" b="0" i="0" u="none">
                <a:solidFill>
                  <a:srgbClr val="111827"/>
                </a:solidFill>
              </a:rPr>
              <a:t>: Natural language processing has evolved rapidly in recent years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Problem</a:t>
            </a:r>
            <a:r>
              <a:rPr sz="2000" b="0" i="0" u="none">
                <a:solidFill>
                  <a:srgbClr val="111827"/>
                </a:solidFill>
              </a:rPr>
              <a:t>: Current approaches lack efficiency and scalability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Step 1</a:t>
            </a:r>
            <a:r>
              <a:rPr sz="2000" b="0" i="0" u="none">
                <a:solidFill>
                  <a:srgbClr val="111827"/>
                </a:solidFill>
              </a:rPr>
              <a:t>: Data preprocessing involves </a:t>
            </a:r>
            <a:r>
              <a:rPr sz="2000" b="0" i="1" u="none">
                <a:solidFill>
                  <a:srgbClr val="111827"/>
                </a:solidFill>
              </a:rPr>
              <a:t>cleaning</a:t>
            </a:r>
            <a:r>
              <a:rPr sz="2000" b="0" i="0" u="none">
                <a:solidFill>
                  <a:srgbClr val="111827"/>
                </a:solidFill>
              </a:rPr>
              <a:t> and </a:t>
            </a:r>
            <a:r>
              <a:rPr sz="2000" b="0" i="0" u="sng">
                <a:solidFill>
                  <a:srgbClr val="111827"/>
                </a:solidFill>
              </a:rPr>
              <a:t>normalization</a:t>
            </a:r>
            <a:r>
              <a:rPr sz="2000" b="0" i="0" u="none">
                <a:solidFill>
                  <a:srgbClr val="111827"/>
                </a:solidFill>
              </a:rPr>
              <a:t> of raw input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Step 2</a:t>
            </a:r>
            <a:r>
              <a:rPr sz="2000" b="0" i="0" u="none">
                <a:solidFill>
                  <a:srgbClr val="111827"/>
                </a:solidFill>
              </a:rPr>
              <a:t>: Feature extraction using </a:t>
            </a:r>
            <a:r>
              <a:rPr sz="2000" b="0" i="1" u="none">
                <a:solidFill>
                  <a:srgbClr val="111827"/>
                </a:solidFill>
              </a:rPr>
              <a:t>advanced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neural networks</a:t>
            </a:r>
            <a:r>
              <a:rPr sz="2000" b="0" i="0" u="none">
                <a:solidFill>
                  <a:srgbClr val="111827"/>
                </a:solidFill>
              </a:rPr>
              <a:t> for pattern recognition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DOI: 10.1234/example.doi</a:t>
            </a:r>
          </a:p>
          <a:p>
            <a:r>
              <a:t>Published in: International Conference on AI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